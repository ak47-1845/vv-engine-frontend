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Four months inside LTTS: findings, one demo, one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1 · Where I came from + a dated month-by-month inside-journey</a:t>
            </a:r>
          </a:p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2 · Three findings — every number tagged to a checkable source</a:t>
            </a:r>
          </a:p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3 · Module 1, working — then a 4-month gated ask</a:t>
            </a:r>
          </a:p>
          <a:p>
            <a:pPr>
              <a:spcAft>
                <a:spcPts val="800"/>
              </a:spcAft>
              <a:defRPr sz="2000" b="1">
                <a:solidFill>
                  <a:srgbClr val="D9A441"/>
                </a:solidFill>
              </a:defRPr>
            </a:pPr>
            <a:r>
              <a:t>Please interrupt. If I'm wrong anywhere, I'd rather hear it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Where I came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Vizag · Kendriya Vidyalaya — math kid: NTSE scholar (AP-14, MAT 97/100), IOQM merit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JEE 99.5 percentile → IIT Guwahati, Mechanical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Tech Board: drones + robotics — hardware punishes assumptions software forgives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18 months making AI work on real enterprise data: 200+ conversations, Kaggle comp (46+ teams), Inter-IIT PS (2,000 students, 23 IITs)</a:t>
            </a:r>
          </a:p>
          <a:p>
            <a:pPr>
              <a:spcAft>
                <a:spcPts val="800"/>
              </a:spcAft>
              <a:defRPr sz="1800" b="0">
                <a:solidFill>
                  <a:srgbClr val="A8B0B8"/>
                </a:solidFill>
              </a:defRPr>
            </a:pPr>
            <a:r>
              <a:t>Registered a small company to sign pilot paperwork. Field school, mostly by failing.</a:t>
            </a:r>
          </a:p>
          <a:p>
            <a:pPr>
              <a:spcAft>
                <a:spcPts val="800"/>
              </a:spcAft>
              <a:defRPr sz="1800" b="1">
                <a:solidFill>
                  <a:srgbClr val="D9A441"/>
                </a:solidFill>
              </a:defRPr>
            </a:pPr>
            <a:r>
              <a:t>March 2026 → Dr. Singh's doorstep → inside LTTS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What I did inside, month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3/16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937760"/>
                <a:gridCol w="4114800"/>
              </a:tblGrid>
              <a:tr h="91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Proof / lesson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Mar–Apr 2026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Aerospace POC: 300-row seed → 5,000 physics-valid rows, 92 runs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Zero violations — earned Dr. Singh's trust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Listened: MTR validation, part rationalization, OCR→JSON→ML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Saw how a services giant operates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Month 2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Built Genuity Reconcile (51-test evidence engine)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Lesson: your teams already do this — never pitch table stakes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Months 3–4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Research: AI / synthetic data / world models / physical AI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4 documents (next slide)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Four documents — and what I deleted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Genesis of Physical AI (26 pp) — world-model math + 5 failure modes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The Practice of Physical AI (16 pp, prepared for Dr. Singh) — commercial reality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Frontier LLM Evolution (48 pp) — where the models actually are</a:t>
            </a:r>
          </a:p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Idea 1 (11 pp) — governance/V&amp;V platform blueprint</a:t>
            </a:r>
          </a:p>
          <a:p>
            <a:pPr>
              <a:spcAft>
                <a:spcPts val="800"/>
              </a:spcAft>
              <a:defRPr sz="1800" b="1">
                <a:solidFill>
                  <a:srgbClr val="D9A441"/>
                </a:solidFill>
              </a:defRPr>
            </a:pPr>
            <a:r>
              <a:t>Every number tagged: [Verified] / [Reported] / [Estimated] / [Speculative]</a:t>
            </a:r>
          </a:p>
          <a:p>
            <a:pPr>
              <a:spcAft>
                <a:spcPts val="800"/>
              </a:spcAft>
              <a:defRPr sz="1800" b="1">
                <a:solidFill>
                  <a:srgbClr val="F2F2F2"/>
                </a:solidFill>
              </a:defRPr>
            </a:pPr>
            <a:r>
              <a:t>11 claims deleted from my own drafts when unverifiable — list in your appendix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Finding 1a — three schools, three winners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5/16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3017520"/>
              </a:tblGrid>
              <a:tr h="91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Renderer (Sora, Genie, Cosmos)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Latent / JEPA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Spatial-engineered (occupancy, PINNs)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Predicts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Pixels / video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Latent physics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3D/4D geometry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Seconds per frame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Sub-5 ms — control-grade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Low–medium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Low (physics-constrained)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Wins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Consumer content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Planning efficiency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Industrial trust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778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A441"/>
                </a:solidFill>
              </a:defRPr>
            </a:pPr>
            <a:r>
              <a:t>Conflating them is the field's most common strategic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Finding 1b — five failure modes (all mathematically characterizable)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6/16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108960"/>
                <a:gridCol w="7132320"/>
              </a:tblGrid>
              <a:tr h="76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One-line physics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Autoregressive drift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Coherent for MINUTES — objects pass through walls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Executability gap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LPIPS-plausible video, Coulomb-wrong grasps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Perceptual hallucination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OOD folded into familiar tokens — silently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Action marginalization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Ignores the operator, replays the tape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Sim-to-real gap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D_real ≠ D_sim — 2026 consensus: hybrid wins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Finding 1c — the 250:1 asymmetry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7/16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9A441"/>
                </a:solidFill>
              </a:defRPr>
            </a:pPr>
            <a:r>
              <a:t>&gt;$5B in  vs  &lt;$20M production revenue  [Verified / Estimated]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7432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2011680"/>
                <a:gridCol w="3383280"/>
              </a:tblGrid>
              <a:tr h="76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Valuation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Raised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Figure AI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$39B (Sep 2025)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~$1.9B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&lt;$10M realized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Skild AI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$14B (Jan 2026)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~$1.7B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Undisclosed (est. &lt;$10M)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Physical Intelligence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$5.6B (Nov 2025)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~$1.07B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&lt;$5M pilots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Wayve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$4.8B (May 2024)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~$1.3B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Licensing backlog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Applied Intuition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$15B (Jun 2025)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~$1.2B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$150–200M ARR ✓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607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2F2"/>
                </a:solidFill>
              </a:defRPr>
            </a:pPr>
            <a:r>
              <a:t>Intelligence gets headlines. Verification gets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Finding 2 — where production revenue actually lives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8/16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754880"/>
                <a:gridCol w="3566160"/>
              </a:tblGrid>
              <a:tr h="1143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What's there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TIER 1 — cash flowing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Sim, validation, inspection, integration; Waymo 500k+/wk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Licenses $100Ms [Verified]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TIER 2 — bounded pilots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Figure@BMW, Apollo@Mercedes, Digit@Amazon, Stretch@DHL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All Verified press releases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TIER 3 — lab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Zero-shot assembly, domestic generalists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Speculative — no scale deployment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778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A441"/>
                </a:solidFill>
              </a:defRPr>
            </a:pPr>
            <a:r>
              <a:t>Verification is LTTS-shaped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Finding 3 — the regulatory clock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9/16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2F2F2"/>
                </a:solidFill>
              </a:defRPr>
            </a:pPr>
            <a:r>
              <a:t>Jan 20, 2027 [Verified, EUR-Lex] — Notified Body assessment mandatory for SELF-EVOLVING safety AI (Annex I Part A Item 24)</a:t>
            </a:r>
          </a:p>
          <a:p>
            <a:pPr>
              <a:spcAft>
                <a:spcPts val="800"/>
              </a:spcAft>
              <a:defRPr sz="1900" b="0">
                <a:solidFill>
                  <a:srgbClr val="F2F2F2"/>
                </a:solidFill>
              </a:defRPr>
            </a:pPr>
            <a:r>
              <a:t>Frozen weights may self-assess — BUT safety-shifting OTA updates = substantial modification → re-assessment + new CE</a:t>
            </a:r>
          </a:p>
          <a:p>
            <a:pPr>
              <a:spcAft>
                <a:spcPts val="800"/>
              </a:spcAft>
              <a:defRPr sz="1900" b="0">
                <a:solidFill>
                  <a:srgbClr val="A8B0B8"/>
                </a:solidFill>
              </a:defRPr>
            </a:pPr>
            <a:r>
              <a:t>NB queues already 6–12 months · ISO 25785-1 unpublished industrial draft [Reported]</a:t>
            </a:r>
          </a:p>
          <a:p>
            <a:pPr>
              <a:spcAft>
                <a:spcPts val="800"/>
              </a:spcAft>
              <a:defRPr sz="1900" b="1">
                <a:solidFill>
                  <a:srgbClr val="D9A441"/>
                </a:solidFill>
              </a:defRPr>
            </a:pPr>
            <a:r>
              <a:t>TÜVs certify the SNAPSHOT. Somebody must monitor the MOVIE.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My readings for L&amp;T's decade (1/2) — please correct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10/16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760720"/>
                <a:gridCol w="2194560"/>
              </a:tblGrid>
              <a:tr h="152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Bet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Budget [Estimated]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1 · V&amp;V practice FIRST (Q1-27)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Safety Dossier Compiler: CBF + reachable sets → ISO 13849/IEC 61508 dossiers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~$2.8M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2 · PLC alliances (Q2)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Siemens/Rockwell bridge partnerships once credentials exist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~$1.3M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8B0B8"/>
                </a:solidFill>
              </a:defRPr>
            </a:pPr>
            <a:r>
              <a:t>Lowest capex, regulatory-forced, serves existing auto/aero/medical clients.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My readings for L&amp;T's decade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11/16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760720"/>
                <a:gridCol w="2194560"/>
              </a:tblGrid>
              <a:tr h="152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Bet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2F2"/>
                          </a:solidFill>
                        </a:defRPr>
                      </a:pPr>
                      <a:r>
                        <a:t>Budget [Estimated]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3 · Synth factories (Q3)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AFTER validation + plant access — Isaac/Omniverse at scale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~$4.2M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4 · CoE baseline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250 engineers upskilled, lateral PhDs, IIT/IISc fellowships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6E6E6"/>
                          </a:solidFill>
                        </a:defRPr>
                      </a:pPr>
                      <a:r>
                        <a:t>~$2.5M/yr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A441"/>
                </a:solidFill>
              </a:defRPr>
            </a:pPr>
            <a:r>
              <a:t>Verify first, generate later — the industry does it backwards.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Module 1, working today — trust scorecard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2F2F2"/>
                </a:solidFill>
              </a:defRPr>
            </a:pPr>
            <a:r>
              <a:t>Policy + rollouts IN → 8 Genesis-§4.4 metrics → red/amber/green report card OUT</a:t>
            </a:r>
          </a:p>
          <a:p>
            <a:pPr>
              <a:spcAft>
                <a:spcPts val="800"/>
              </a:spcAft>
              <a:defRPr sz="1800" b="0">
                <a:solidFill>
                  <a:srgbClr val="A8B0B8"/>
                </a:solidFill>
              </a:defRPr>
            </a:pPr>
            <a:r>
              <a:t>Drift · horizon · Fréchet sim-to-real (patent vector #1) · action-sensitivity · spread · jerk/bound proxies</a:t>
            </a:r>
          </a:p>
          <a:p>
            <a:pPr>
              <a:spcAft>
                <a:spcPts val="800"/>
              </a:spcAft>
              <a:defRPr sz="1800" b="0">
                <a:solidFill>
                  <a:srgbClr val="A8B0B8"/>
                </a:solidFill>
              </a:defRPr>
            </a:pPr>
            <a:r>
              <a:t>Fail-closed: worst gate decides. DRAFT thresholds — Month-1 calibrates on public OXE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237744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2F2F2"/>
                </a:solidFill>
              </a:defRPr>
            </a:pPr>
            <a:r>
              <a:t>RUNS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5120640"/>
            <a:ext cx="2377440" cy="548640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2F2F2"/>
                </a:solidFill>
              </a:defRPr>
            </a:pPr>
            <a:r>
              <a:t>PATENT VECTOR #1 INSIDE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5120640"/>
            <a:ext cx="2377440" cy="5486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2F2F2"/>
                </a:solidFill>
              </a:defRPr>
            </a:pPr>
            <a:r>
              <a:t>NOT A 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LIVE DEMO — three policies, three verdicts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13/16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011680"/>
                <a:gridCol w="2011680"/>
                <a:gridCol w="2651760"/>
              </a:tblGrid>
              <a:tr h="1143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2F2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2F2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2F2"/>
                          </a:solidFill>
                        </a:defRPr>
                      </a:pPr>
                      <a:r>
                        <a:t>Fréchet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2F2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2F2"/>
                          </a:solidFill>
                        </a:defRPr>
                      </a:pPr>
                      <a:r>
                        <a:t>Act-sens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clean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TRUSTED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4.39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drifty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BLOCKED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3.35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playback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BLOCKED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1.41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6E6E6"/>
                          </a:solidFill>
                        </a:defRPr>
                      </a:pPr>
                      <a:r>
                        <a:t>0.00 — dead wheel caught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8B0B8"/>
                </a:solidFill>
              </a:defRPr>
            </a:pPr>
            <a:r>
              <a:t>Deterministic seeds. Canned recording + printed cards as backup.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The ask — four months, checkable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14/16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120640"/>
                <a:gridCol w="4663440"/>
              </a:tblGrid>
              <a:tr h="91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Two gates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</a:defRPr>
                      </a:pPr>
                      <a:r>
                        <a:t>Proof you can check</a:t>
                      </a:r>
                    </a:p>
                  </a:txBody>
                  <a:tcPr>
                    <a:solidFill>
                      <a:srgbClr val="2A333C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Scorer on OXE pairs · 3 outreach emails tracked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Report cards + response log (I'll report 'no pull' myself if so)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Adversarial edge-case module (Isaac Sim) · insurer responses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Failure-boundary gallery + reply log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Provenance ledger prototype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Dataset cards + ratio enforcement demo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2 provisional drafts (attorney review) · 1-client pilot proposal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6E6E6"/>
                          </a:solidFill>
                        </a:defRPr>
                      </a:pPr>
                      <a:r>
                        <a:t>Filings + scoped pilot doc</a:t>
                      </a:r>
                    </a:p>
                  </a:txBody>
                  <a:tcPr>
                    <a:solidFill>
                      <a:srgbClr val="1B222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A441"/>
                </a:solidFill>
              </a:defRPr>
            </a:pPr>
            <a:r>
              <a:t>Judge me on dates. If I miss, research + code + drafts stay with you.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2F2F2"/>
                </a:solidFill>
              </a:defRPr>
            </a:pPr>
            <a:r>
              <a:t>“I'm not asking you to believe in world models — I'm asking you to believe in four months of checkable work.”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2F2"/>
                </a:solidFill>
              </a:defRPr>
            </a:pPr>
            <a:r>
              <a:t>Questions — please be harsh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28016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B0B8"/>
                </a:solidFill>
              </a:defRPr>
            </a:pPr>
            <a:r>
              <a:t>Confidential — prepared for LTTS CTO · Sept 30, 2026 · 16/16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Who pays? → Insurers first (budgets today) → OEMs (Jan-27 forces them) → TICs</a:t>
            </a:r>
          </a:p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Why me, not internal teams? → Structural arbitrage: 4 months off-P&amp;L, they can't</a:t>
            </a:r>
          </a:p>
          <a:p>
            <a:pPr>
              <a:spcAft>
                <a:spcPts val="800"/>
              </a:spcAft>
              <a:defRPr sz="2000" b="0">
                <a:solidFill>
                  <a:srgbClr val="F2F2F2"/>
                </a:solidFill>
              </a:defRPr>
            </a:pPr>
            <a:r>
              <a:t>Applied Intuition? → Rating agency, not bank. Builder can't be auditor.</a:t>
            </a:r>
          </a:p>
          <a:p>
            <a:pPr>
              <a:spcAft>
                <a:spcPts val="800"/>
              </a:spcAft>
              <a:defRPr sz="2000" b="1">
                <a:solidFill>
                  <a:srgbClr val="D9A441"/>
                </a:solidFill>
              </a:defRPr>
            </a:pPr>
            <a:r>
              <a:t>Where am I wrong?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